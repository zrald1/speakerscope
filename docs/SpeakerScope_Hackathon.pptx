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F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4884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6600" b="1">
                <a:solidFill>
                  <a:srgbClr val="34C2DB"/>
                </a:solidFill>
                <a:latin typeface="Segoe UI"/>
              </a:rPr>
              <a:t>SpeakerScope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2900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0">
                <a:solidFill>
                  <a:srgbClr val="E8EDF3"/>
                </a:solidFill>
                <a:latin typeface="Segoe UI"/>
              </a:rPr>
              <a:t>Live speaker-attributed transcription</a:t>
            </a:r>
          </a:p>
          <a:p>
            <a:pPr algn="ctr">
              <a:spcAft>
                <a:spcPts val="400"/>
              </a:spcAft>
            </a:pPr>
            <a:r>
              <a:rPr sz="1600" b="0">
                <a:solidFill>
                  <a:srgbClr val="8B949E"/>
                </a:solidFill>
                <a:latin typeface="Segoe UI"/>
              </a:rPr>
              <a:t>who said what, as they say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21208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8B949E"/>
                </a:solidFill>
                <a:latin typeface="Segoe UI"/>
              </a:rPr>
              <a:t>AssemblyAI x lablab.ai Hackathon  |  September 2026</a:t>
            </a:r>
          </a:p>
          <a:p>
            <a:pPr algn="ctr">
              <a:spcAft>
                <a:spcPts val="400"/>
              </a:spcAft>
            </a:pPr>
            <a:r>
              <a:rPr sz="1400" b="0">
                <a:solidFill>
                  <a:srgbClr val="34C2DB"/>
                </a:solidFill>
                <a:latin typeface="Segoe UI"/>
              </a:rPr>
              <a:t>AssemblyAI Universal Streaming  +  NVIDIA Nemotron-3-Diarization (on-device)</a:t>
            </a:r>
          </a:p>
        </p:txBody>
      </p:sp>
      <p:sp>
        <p:nvSpPr>
          <p:cNvPr id="6" name="Oval 5"/>
          <p:cNvSpPr/>
          <p:nvPr/>
        </p:nvSpPr>
        <p:spPr>
          <a:xfrm>
            <a:off x="5394960" y="5989320"/>
            <a:ext cx="128016" cy="128016"/>
          </a:xfrm>
          <a:prstGeom prst="ellipse">
            <a:avLst/>
          </a:prstGeom>
          <a:solidFill>
            <a:srgbClr val="FF8C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650992" y="5989320"/>
            <a:ext cx="128016" cy="128016"/>
          </a:xfrm>
          <a:prstGeom prst="ellipse">
            <a:avLst/>
          </a:prstGeom>
          <a:solidFill>
            <a:srgbClr val="E5C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907024" y="5989320"/>
            <a:ext cx="128016" cy="128016"/>
          </a:xfrm>
          <a:prstGeom prst="ellipse">
            <a:avLst/>
          </a:prstGeom>
          <a:solidFill>
            <a:srgbClr val="0094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163056" y="5989320"/>
            <a:ext cx="128016" cy="128016"/>
          </a:xfrm>
          <a:prstGeom prst="ellipse">
            <a:avLst/>
          </a:prstGeom>
          <a:solidFill>
            <a:srgbClr val="F0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419088" y="5989320"/>
            <a:ext cx="128016" cy="128016"/>
          </a:xfrm>
          <a:prstGeom prst="ellipse">
            <a:avLst/>
          </a:prstGeom>
          <a:solidFill>
            <a:srgbClr val="E656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675120" y="5989320"/>
            <a:ext cx="128016" cy="128016"/>
          </a:xfrm>
          <a:prstGeom prst="ellipse">
            <a:avLst/>
          </a:prstGeom>
          <a:solidFill>
            <a:srgbClr val="F0B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931152" y="5989320"/>
            <a:ext cx="128016" cy="128016"/>
          </a:xfrm>
          <a:prstGeom prst="ellipse">
            <a:avLst/>
          </a:prstGeom>
          <a:solidFill>
            <a:srgbClr val="5B9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187184" y="5989320"/>
            <a:ext cx="128016" cy="128016"/>
          </a:xfrm>
          <a:prstGeom prst="ellipse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F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57200"/>
            <a:ext cx="82296" cy="685800"/>
          </a:xfrm>
          <a:prstGeom prst="roundRect">
            <a:avLst/>
          </a:prstGeom>
          <a:solidFill>
            <a:srgbClr val="34C2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3600" b="1">
                <a:solidFill>
                  <a:srgbClr val="E8EDF3"/>
                </a:solidFill>
                <a:latin typeface="Segoe UI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1115568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8B949E"/>
                </a:solidFill>
                <a:latin typeface="Segoe UI"/>
              </a:rPr>
              <a:t>Transcripts know what was said - not who said 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920240"/>
            <a:ext cx="3520440" cy="2834640"/>
          </a:xfrm>
          <a:prstGeom prst="roundRect">
            <a:avLst/>
          </a:prstGeom>
          <a:solidFill>
            <a:srgbClr val="15181D"/>
          </a:solidFill>
          <a:ln w="9525">
            <a:solidFill>
              <a:srgbClr val="2E33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194560"/>
            <a:ext cx="29718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900" b="1">
                <a:solidFill>
                  <a:srgbClr val="34C2DB"/>
                </a:solidFill>
                <a:latin typeface="Segoe UI"/>
              </a:rPr>
              <a:t>Flat transcripts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E8EDF3"/>
                </a:solidFill>
                <a:latin typeface="Segoe UI"/>
              </a:rPr>
              <a:t>No speaker labels: meetings become a wall of text - unusable for recaps, QA, or action items.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1920240"/>
            <a:ext cx="3520440" cy="2834640"/>
          </a:xfrm>
          <a:prstGeom prst="roundRect">
            <a:avLst/>
          </a:prstGeom>
          <a:solidFill>
            <a:srgbClr val="15181D"/>
          </a:solidFill>
          <a:ln w="9525">
            <a:solidFill>
              <a:srgbClr val="2E33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0" y="2194560"/>
            <a:ext cx="29718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900" b="1">
                <a:solidFill>
                  <a:srgbClr val="34C2DB"/>
                </a:solidFill>
                <a:latin typeface="Segoe UI"/>
              </a:rPr>
              <a:t>Cloud diarization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E8EDF3"/>
                </a:solidFill>
                <a:latin typeface="Segoe UI"/>
              </a:rPr>
              <a:t>Post-hoc upload, minutes of latency, per-minute billing, and raw audio leaves the device.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75320" y="1920240"/>
            <a:ext cx="3520440" cy="2834640"/>
          </a:xfrm>
          <a:prstGeom prst="roundRect">
            <a:avLst/>
          </a:prstGeom>
          <a:solidFill>
            <a:srgbClr val="15181D"/>
          </a:solidFill>
          <a:ln w="9525">
            <a:solidFill>
              <a:srgbClr val="2E33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49640" y="2194560"/>
            <a:ext cx="29718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900" b="1">
                <a:solidFill>
                  <a:srgbClr val="34C2DB"/>
                </a:solidFill>
                <a:latin typeface="Segoe UI"/>
              </a:rPr>
              <a:t>Real-time need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E8EDF3"/>
                </a:solidFill>
                <a:latin typeface="Segoe UI"/>
              </a:rPr>
              <a:t>Live meeting assist, call coaching, accessibility: labels must appear while people speak.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212080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9E45"/>
                </a:solidFill>
                <a:latin typeface="Segoe UI"/>
              </a:rPr>
              <a:t>Gap in the market: fast, private, speaker-attributed transcription running on commodity desktop hardware.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F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57200"/>
            <a:ext cx="82296" cy="685800"/>
          </a:xfrm>
          <a:prstGeom prst="roundRect">
            <a:avLst/>
          </a:prstGeom>
          <a:solidFill>
            <a:srgbClr val="34C2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3600" b="1">
                <a:solidFill>
                  <a:srgbClr val="E8EDF3"/>
                </a:solidFill>
                <a:latin typeface="Segoe UI"/>
              </a:rPr>
              <a:t>The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1115568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8B949E"/>
                </a:solidFill>
                <a:latin typeface="Segoe UI"/>
              </a:rPr>
              <a:t>Two best-in-class engines fused in one native C++ app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28800"/>
            <a:ext cx="5394960" cy="3108960"/>
          </a:xfrm>
          <a:prstGeom prst="roundRect">
            <a:avLst/>
          </a:prstGeom>
          <a:solidFill>
            <a:srgbClr val="15181D"/>
          </a:solidFill>
          <a:ln w="9525">
            <a:solidFill>
              <a:srgbClr val="2E33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103120"/>
            <a:ext cx="48463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8B949E"/>
                </a:solidFill>
                <a:latin typeface="Segoe UI"/>
              </a:rPr>
              <a:t>WHAT was said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34C2DB"/>
                </a:solidFill>
                <a:latin typeface="Segoe UI"/>
              </a:rPr>
              <a:t>AssemblyAI Universal Streaming</a:t>
            </a:r>
          </a:p>
          <a:p>
            <a:pPr algn="l">
              <a:spcAft>
                <a:spcPts val="400"/>
              </a:spcAft>
            </a:pPr>
            <a:r>
              <a:rPr sz="1350" b="0">
                <a:solidFill>
                  <a:srgbClr val="E8EDF3"/>
                </a:solidFill>
                <a:latin typeface="Segoe UI"/>
              </a:rPr>
              <a:t>•  Real-time WebSocket (v3), 16 kHz PCM</a:t>
            </a:r>
          </a:p>
          <a:p>
            <a:pPr algn="l">
              <a:spcAft>
                <a:spcPts val="400"/>
              </a:spcAft>
            </a:pPr>
            <a:r>
              <a:rPr sz="1350" b="0">
                <a:solidFill>
                  <a:srgbClr val="E8EDF3"/>
                </a:solidFill>
                <a:latin typeface="Segoe UI"/>
              </a:rPr>
              <a:t>•  Word-level timestamps, sub-second partials</a:t>
            </a:r>
          </a:p>
          <a:p>
            <a:pPr algn="l">
              <a:spcAft>
                <a:spcPts val="400"/>
              </a:spcAft>
            </a:pPr>
            <a:r>
              <a:rPr sz="1350" b="0">
                <a:solidFill>
                  <a:srgbClr val="E8EDF3"/>
                </a:solidFill>
                <a:latin typeface="Segoe UI"/>
              </a:rPr>
              <a:t>•  Clean session lifecycle - billing-safe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828800"/>
            <a:ext cx="5394960" cy="3108960"/>
          </a:xfrm>
          <a:prstGeom prst="roundRect">
            <a:avLst/>
          </a:prstGeom>
          <a:solidFill>
            <a:srgbClr val="15181D"/>
          </a:solidFill>
          <a:ln w="9525">
            <a:solidFill>
              <a:srgbClr val="2E33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2103120"/>
            <a:ext cx="48463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8B949E"/>
                </a:solidFill>
                <a:latin typeface="Segoe UI"/>
              </a:rPr>
              <a:t>WHO is speaking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34C2DB"/>
                </a:solidFill>
                <a:latin typeface="Segoe UI"/>
              </a:rPr>
              <a:t>NVIDIA Nemotron-3-Diarization</a:t>
            </a:r>
          </a:p>
          <a:p>
            <a:pPr algn="l">
              <a:spcAft>
                <a:spcPts val="400"/>
              </a:spcAft>
            </a:pPr>
            <a:r>
              <a:rPr sz="1350" b="0">
                <a:solidFill>
                  <a:srgbClr val="E8EDF3"/>
                </a:solidFill>
                <a:latin typeface="Segoe UI"/>
              </a:rPr>
              <a:t>•  100M-param model on-device (GGUF q8_0)</a:t>
            </a:r>
          </a:p>
          <a:p>
            <a:pPr algn="l">
              <a:spcAft>
                <a:spcPts val="400"/>
              </a:spcAft>
            </a:pPr>
            <a:r>
              <a:rPr sz="1350" b="0">
                <a:solidFill>
                  <a:srgbClr val="E8EDF3"/>
                </a:solidFill>
                <a:latin typeface="Segoe UI"/>
              </a:rPr>
              <a:t>•  Native C++ via audio.cpp - no GPU, no Python</a:t>
            </a:r>
          </a:p>
          <a:p>
            <a:pPr algn="l">
              <a:spcAft>
                <a:spcPts val="400"/>
              </a:spcAft>
            </a:pPr>
            <a:r>
              <a:rPr sz="1350" b="0">
                <a:solidFill>
                  <a:srgbClr val="E8EDF3"/>
                </a:solidFill>
                <a:latin typeface="Segoe UI"/>
              </a:rPr>
              <a:t>•  8 channels, overlap-aware, streaming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257800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E8EDF3"/>
                </a:solidFill>
                <a:latin typeface="Segoe UI"/>
              </a:rPr>
              <a:t>Timestamp-domain fusion -&gt; every word gets a speaker label live, shown as Person 1..8 lanes users can rename, filter and export.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F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57200"/>
            <a:ext cx="82296" cy="685800"/>
          </a:xfrm>
          <a:prstGeom prst="roundRect">
            <a:avLst/>
          </a:prstGeom>
          <a:solidFill>
            <a:srgbClr val="34C2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3600" b="1">
                <a:solidFill>
                  <a:srgbClr val="E8EDF3"/>
                </a:solidFill>
                <a:latin typeface="Segoe UI"/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1115568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8B949E"/>
                </a:solidFill>
                <a:latin typeface="Segoe UI"/>
              </a:rPr>
              <a:t>One capture, two consumers, one fused transcript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88720" y="1737360"/>
            <a:ext cx="9784080" cy="749808"/>
          </a:xfrm>
          <a:prstGeom prst="roundRect">
            <a:avLst/>
          </a:prstGeom>
          <a:solidFill>
            <a:srgbClr val="15181D"/>
          </a:solidFill>
          <a:ln w="9525">
            <a:solidFill>
              <a:srgbClr val="2E33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17320" y="1856231"/>
            <a:ext cx="9326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34C2DB"/>
                </a:solidFill>
                <a:latin typeface="Segoe UI"/>
              </a:rPr>
              <a:t>AUDIO</a:t>
            </a:r>
            <a:r>
              <a:rPr sz="1350">
                <a:solidFill>
                  <a:srgbClr val="E8EDF3"/>
                </a:solidFill>
                <a:latin typeface="Segoe UI"/>
              </a:rPr>
              <a:t>   mic / WASAPI loopback / WAV  -&gt;  16 kHz mono lock-free 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246888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8B949E"/>
                </a:solidFill>
                <a:latin typeface="Segoe UI"/>
              </a:rPr>
              <a:t>v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88720" y="2670048"/>
            <a:ext cx="9784080" cy="749808"/>
          </a:xfrm>
          <a:prstGeom prst="roundRect">
            <a:avLst/>
          </a:prstGeom>
          <a:solidFill>
            <a:srgbClr val="1B1F23"/>
          </a:solidFill>
          <a:ln w="9525">
            <a:solidFill>
              <a:srgbClr val="2E33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17320" y="2788920"/>
            <a:ext cx="9326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34C2DB"/>
                </a:solidFill>
                <a:latin typeface="Segoe UI"/>
              </a:rPr>
              <a:t>STT</a:t>
            </a:r>
            <a:r>
              <a:rPr sz="1350">
                <a:solidFill>
                  <a:srgbClr val="E8EDF3"/>
                </a:solidFill>
                <a:latin typeface="Segoe UI"/>
              </a:rPr>
              <a:t>   AssemblyAI v3 WS  -&gt;  50 ms pcm_s16le  -&gt;  turns + word timestamps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340156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8B949E"/>
                </a:solidFill>
                <a:latin typeface="Segoe UI"/>
              </a:rPr>
              <a:t>v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88720" y="3602736"/>
            <a:ext cx="9784080" cy="749808"/>
          </a:xfrm>
          <a:prstGeom prst="roundRect">
            <a:avLst/>
          </a:prstGeom>
          <a:solidFill>
            <a:srgbClr val="15181D"/>
          </a:solidFill>
          <a:ln w="9525">
            <a:solidFill>
              <a:srgbClr val="2E33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17320" y="3721608"/>
            <a:ext cx="9326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34C2DB"/>
                </a:solidFill>
                <a:latin typeface="Segoe UI"/>
              </a:rPr>
              <a:t>DIAR</a:t>
            </a:r>
            <a:r>
              <a:rPr sz="1350">
                <a:solidFill>
                  <a:srgbClr val="E8EDF3"/>
                </a:solidFill>
                <a:latin typeface="Segoe UI"/>
              </a:rPr>
              <a:t>   audio.cpp Nemotron-3  -&gt;  streaming inference  -&gt;  open speaker turns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160" y="4334256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8B949E"/>
                </a:solidFill>
                <a:latin typeface="Segoe UI"/>
              </a:rPr>
              <a:t>v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188720" y="4535424"/>
            <a:ext cx="9784080" cy="749808"/>
          </a:xfrm>
          <a:prstGeom prst="roundRect">
            <a:avLst/>
          </a:prstGeom>
          <a:solidFill>
            <a:srgbClr val="1B1F23"/>
          </a:solidFill>
          <a:ln w="9525">
            <a:solidFill>
              <a:srgbClr val="2E33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17320" y="4654296"/>
            <a:ext cx="9326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34C2DB"/>
                </a:solidFill>
                <a:latin typeface="Segoe UI"/>
              </a:rPr>
              <a:t>FUSE</a:t>
            </a:r>
            <a:r>
              <a:rPr sz="1350">
                <a:solidFill>
                  <a:srgbClr val="E8EDF3"/>
                </a:solidFill>
                <a:latin typeface="Segoe UI"/>
              </a:rPr>
              <a:t>   word-midpoint argmax + hysteresis + overlap flag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0" y="5266944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8B949E"/>
                </a:solidFill>
                <a:latin typeface="Segoe UI"/>
              </a:rPr>
              <a:t>v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88720" y="5468112"/>
            <a:ext cx="9784080" cy="749808"/>
          </a:xfrm>
          <a:prstGeom prst="roundRect">
            <a:avLst/>
          </a:prstGeom>
          <a:solidFill>
            <a:srgbClr val="15181D"/>
          </a:solidFill>
          <a:ln w="9525">
            <a:solidFill>
              <a:srgbClr val="2E33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17320" y="5586984"/>
            <a:ext cx="9326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34C2DB"/>
                </a:solidFill>
                <a:latin typeface="Segoe UI"/>
              </a:rPr>
              <a:t>UI</a:t>
            </a:r>
            <a:r>
              <a:rPr sz="1350">
                <a:solidFill>
                  <a:srgbClr val="E8EDF3"/>
                </a:solidFill>
                <a:latin typeface="Segoe UI"/>
              </a:rPr>
              <a:t>   Dear ImGui - live lanes, rename people, filter/copy/export per person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89788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F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57200"/>
            <a:ext cx="82296" cy="685800"/>
          </a:xfrm>
          <a:prstGeom prst="roundRect">
            <a:avLst/>
          </a:prstGeom>
          <a:solidFill>
            <a:srgbClr val="34C2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3600" b="1">
                <a:solidFill>
                  <a:srgbClr val="E8EDF3"/>
                </a:solidFill>
                <a:latin typeface="Segoe UI"/>
              </a:rPr>
              <a:t>Engineering highlights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00200"/>
            <a:ext cx="5349240" cy="1371600"/>
          </a:xfrm>
          <a:prstGeom prst="roundRect">
            <a:avLst/>
          </a:prstGeom>
          <a:solidFill>
            <a:srgbClr val="15181D"/>
          </a:solidFill>
          <a:ln w="9525">
            <a:solidFill>
              <a:srgbClr val="2E33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" y="1746504"/>
            <a:ext cx="4837176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34C2DB"/>
                </a:solidFill>
                <a:latin typeface="Segoe UI"/>
              </a:rPr>
              <a:t>Open-turn streaming patch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E8EDF3"/>
                </a:solidFill>
                <a:latin typeface="Segoe UI"/>
              </a:rPr>
              <a:t>audio.cpp decoder patched to emit live open turns - speakers labeled while talking, not only after pauses.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600200"/>
            <a:ext cx="5349240" cy="1371600"/>
          </a:xfrm>
          <a:prstGeom prst="roundRect">
            <a:avLst/>
          </a:prstGeom>
          <a:solidFill>
            <a:srgbClr val="15181D"/>
          </a:solidFill>
          <a:ln w="9525">
            <a:solidFill>
              <a:srgbClr val="2E33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19672" y="1746504"/>
            <a:ext cx="4837176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34C2DB"/>
                </a:solidFill>
                <a:latin typeface="Segoe UI"/>
              </a:rPr>
              <a:t>7.6x realtime on CPU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E8EDF3"/>
                </a:solidFill>
                <a:latin typeface="Segoe UI"/>
              </a:rPr>
              <a:t>Custom chunk geometry (chunk_len=40) vs. 0.53x for the stock 'low' profile - identical accuracy, ~5 s label granularity.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3172968"/>
            <a:ext cx="5349240" cy="1371600"/>
          </a:xfrm>
          <a:prstGeom prst="roundRect">
            <a:avLst/>
          </a:prstGeom>
          <a:solidFill>
            <a:srgbClr val="15181D"/>
          </a:solidFill>
          <a:ln w="9525">
            <a:solidFill>
              <a:srgbClr val="2E33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3319272"/>
            <a:ext cx="4837176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34C2DB"/>
                </a:solidFill>
                <a:latin typeface="Segoe UI"/>
              </a:rPr>
              <a:t>Tee architecture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E8EDF3"/>
                </a:solidFill>
                <a:latin typeface="Segoe UI"/>
              </a:rPr>
              <a:t>STT and diarization consume separate rings - local inference can never starve the realtime AssemblyAI stream.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172968"/>
            <a:ext cx="5349240" cy="1371600"/>
          </a:xfrm>
          <a:prstGeom prst="roundRect">
            <a:avLst/>
          </a:prstGeom>
          <a:solidFill>
            <a:srgbClr val="15181D"/>
          </a:solidFill>
          <a:ln w="9525">
            <a:solidFill>
              <a:srgbClr val="2E33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9672" y="3319272"/>
            <a:ext cx="4837176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34C2DB"/>
                </a:solidFill>
                <a:latin typeface="Segoe UI"/>
              </a:rPr>
              <a:t>Beyond 8 speakers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E8EDF3"/>
                </a:solidFill>
                <a:latin typeface="Segoe UI"/>
              </a:rPr>
              <a:t>8-channel limit is concurrency-only; voice-embedding clustering resolves unlimited global Person identities.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4745736"/>
            <a:ext cx="10927080" cy="1371600"/>
          </a:xfrm>
          <a:prstGeom prst="roundRect">
            <a:avLst/>
          </a:prstGeom>
          <a:solidFill>
            <a:srgbClr val="15181D"/>
          </a:solidFill>
          <a:ln w="9525">
            <a:solidFill>
              <a:srgbClr val="2E33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2" y="4892040"/>
            <a:ext cx="10415016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34C2DB"/>
                </a:solidFill>
                <a:latin typeface="Segoe UI"/>
              </a:rPr>
              <a:t>Privacy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E8EDF3"/>
                </a:solidFill>
                <a:latin typeface="Segoe UI"/>
              </a:rPr>
              <a:t>Diarization fully on-device; only transcription audio goes to AssemblyAI.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F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57200"/>
            <a:ext cx="82296" cy="685800"/>
          </a:xfrm>
          <a:prstGeom prst="roundRect">
            <a:avLst/>
          </a:prstGeom>
          <a:solidFill>
            <a:srgbClr val="34C2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3600" b="1">
                <a:solidFill>
                  <a:srgbClr val="E8EDF3"/>
                </a:solidFill>
                <a:latin typeface="Segoe UI"/>
              </a:rPr>
              <a:t>Verified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1115568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8B949E"/>
                </a:solidFill>
                <a:latin typeface="Segoe UI"/>
              </a:rPr>
              <a:t>It runs - headless and in the GUI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737360"/>
            <a:ext cx="2651760" cy="1828800"/>
          </a:xfrm>
          <a:prstGeom prst="roundRect">
            <a:avLst/>
          </a:prstGeom>
          <a:solidFill>
            <a:srgbClr val="15181D"/>
          </a:solidFill>
          <a:ln w="9525">
            <a:solidFill>
              <a:srgbClr val="2E33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965960"/>
            <a:ext cx="2286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34C2DB"/>
                </a:solidFill>
                <a:latin typeface="Segoe UI"/>
              </a:rPr>
              <a:t>117/117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E8EDF3"/>
                </a:solidFill>
                <a:latin typeface="Segoe UI"/>
              </a:rPr>
              <a:t>automated tests green - incl. 80-case generated-meeting battery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20440" y="1737360"/>
            <a:ext cx="2651760" cy="1828800"/>
          </a:xfrm>
          <a:prstGeom prst="roundRect">
            <a:avLst/>
          </a:prstGeom>
          <a:solidFill>
            <a:srgbClr val="15181D"/>
          </a:solidFill>
          <a:ln w="9525">
            <a:solidFill>
              <a:srgbClr val="2E33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21608" y="1965960"/>
            <a:ext cx="2286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34C2DB"/>
                </a:solidFill>
                <a:latin typeface="Segoe UI"/>
              </a:rPr>
              <a:t>55.8 s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E8EDF3"/>
                </a:solidFill>
                <a:latin typeface="Segoe UI"/>
              </a:rPr>
              <a:t>4-voice wav -&gt; live Nemotron + AssemblyAI -&gt; attributed transcript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737360"/>
            <a:ext cx="2651760" cy="1828800"/>
          </a:xfrm>
          <a:prstGeom prst="roundRect">
            <a:avLst/>
          </a:prstGeom>
          <a:solidFill>
            <a:srgbClr val="15181D"/>
          </a:solidFill>
          <a:ln w="9525">
            <a:solidFill>
              <a:srgbClr val="2E33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56248" y="1965960"/>
            <a:ext cx="2286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34C2DB"/>
                </a:solidFill>
                <a:latin typeface="Segoe UI"/>
              </a:rPr>
              <a:t>7.6x RT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E8EDF3"/>
                </a:solidFill>
                <a:latin typeface="Segoe UI"/>
              </a:rPr>
              <a:t>on-device diarization throughput on a 12-core CPU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89720" y="1737360"/>
            <a:ext cx="2651760" cy="1828800"/>
          </a:xfrm>
          <a:prstGeom prst="roundRect">
            <a:avLst/>
          </a:prstGeom>
          <a:solidFill>
            <a:srgbClr val="15181D"/>
          </a:solidFill>
          <a:ln w="9525">
            <a:solidFill>
              <a:srgbClr val="2E33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90888" y="1965960"/>
            <a:ext cx="2286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34C2DB"/>
                </a:solidFill>
                <a:latin typeface="Segoe UI"/>
              </a:rPr>
              <a:t>&lt;1 s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E8EDF3"/>
                </a:solidFill>
                <a:latin typeface="Segoe UI"/>
              </a:rPr>
              <a:t>session stop - STT socket closed before diar drain (billing-safe)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977639"/>
            <a:ext cx="10698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8B949E"/>
                </a:solidFill>
                <a:latin typeface="Segoe UI"/>
              </a:rPr>
              <a:t>Demo artifacts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E8EDF3"/>
                </a:solidFill>
                <a:latin typeface="Segoe UI"/>
              </a:rPr>
              <a:t>•  speakerscope.exe - GUI: live lanes, rename Person N, filter &amp; export per person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E8EDF3"/>
                </a:solidFill>
                <a:latin typeface="Segoe UI"/>
              </a:rPr>
              <a:t>•  speakerscope_sim.exe - headless end-to-end: wav -&gt; real AssemblyAI + Nemotron -&gt; fused transcript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E8EDF3"/>
                </a:solidFill>
                <a:latin typeface="Segoe UI"/>
              </a:rPr>
              <a:t>•  speakerscope_diar_bench.exe - model throughput benchmark (16x RT max profile)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E8EDF3"/>
                </a:solidFill>
                <a:latin typeface="Segoe UI"/>
              </a:rPr>
              <a:t>•  Sample output: '[Person 2] The diarization model now supports up to 8 simultaneous speakers.'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F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57200"/>
            <a:ext cx="82296" cy="685800"/>
          </a:xfrm>
          <a:prstGeom prst="roundRect">
            <a:avLst/>
          </a:prstGeom>
          <a:solidFill>
            <a:srgbClr val="34C2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3600" b="1">
                <a:solidFill>
                  <a:srgbClr val="E8EDF3"/>
                </a:solidFill>
                <a:latin typeface="Segoe UI"/>
              </a:rPr>
              <a:t>Business value &amp;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45920"/>
            <a:ext cx="106070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2000" b="1">
                <a:solidFill>
                  <a:srgbClr val="E8EDF3"/>
                </a:solidFill>
                <a:latin typeface="Segoe UI"/>
              </a:rPr>
              <a:t>A transcript tells you what was said. A record tells you who said it.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E8EDF3"/>
                </a:solidFill>
                <a:latin typeface="Segoe UI"/>
              </a:rPr>
              <a:t>•  Hybrid teams - searchable, attributable meeting recaps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E8EDF3"/>
                </a:solidFill>
                <a:latin typeface="Segoe UI"/>
              </a:rPr>
              <a:t>•  Call centers - agent/customer separation for QA and coaching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E8EDF3"/>
                </a:solidFill>
                <a:latin typeface="Segoe UI"/>
              </a:rPr>
              <a:t>•  Accessibility - follow conversations by speaker in real time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E8EDF3"/>
                </a:solidFill>
                <a:latin typeface="Segoe UI"/>
              </a:rPr>
              <a:t>•  Privacy-sensitive settings - diarization never leaves the device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4114800"/>
            <a:ext cx="10607040" cy="1737360"/>
          </a:xfrm>
          <a:prstGeom prst="roundRect">
            <a:avLst/>
          </a:prstGeom>
          <a:solidFill>
            <a:srgbClr val="15181D"/>
          </a:solidFill>
          <a:ln w="9525">
            <a:solidFill>
              <a:srgbClr val="2E33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43434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34C2DB"/>
                </a:solidFill>
                <a:latin typeface="Segoe UI"/>
              </a:rPr>
              <a:t>Stack</a:t>
            </a:r>
          </a:p>
          <a:p>
            <a:pPr algn="l">
              <a:spcAft>
                <a:spcPts val="400"/>
              </a:spcAft>
            </a:pPr>
            <a:r>
              <a:rPr sz="1350" b="0">
                <a:solidFill>
                  <a:srgbClr val="E8EDF3"/>
                </a:solidFill>
                <a:latin typeface="Segoe UI"/>
              </a:rPr>
              <a:t>C++20 | CMake + vcpkg | Dear ImGui + GLFW | miniaudio | IXWebSocket + mbedTLS | AssemblyAI Streaming v3 | audio.cpp (GGUF) | Nemotron-3-Diarization q8_0 | GoogleTest | Windows, MIT license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03504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34C2DB"/>
                </a:solidFill>
                <a:latin typeface="Segoe UI"/>
              </a:rPr>
              <a:t>SpeakerScope - live, on-device, speaker-attributed transcription.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